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64" r:id="rId3"/>
    <p:sldId id="278" r:id="rId4"/>
    <p:sldId id="259" r:id="rId5"/>
    <p:sldId id="282" r:id="rId6"/>
    <p:sldId id="283" r:id="rId7"/>
    <p:sldId id="260" r:id="rId8"/>
    <p:sldId id="288" r:id="rId9"/>
    <p:sldId id="289" r:id="rId10"/>
    <p:sldId id="290" r:id="rId11"/>
    <p:sldId id="291" r:id="rId12"/>
    <p:sldId id="292" r:id="rId13"/>
    <p:sldId id="294" r:id="rId14"/>
    <p:sldId id="295" r:id="rId15"/>
    <p:sldId id="299" r:id="rId16"/>
    <p:sldId id="300" r:id="rId17"/>
    <p:sldId id="284" r:id="rId18"/>
    <p:sldId id="258" r:id="rId19"/>
    <p:sldId id="277" r:id="rId20"/>
    <p:sldId id="281" r:id="rId21"/>
    <p:sldId id="286" r:id="rId22"/>
    <p:sldId id="301" r:id="rId23"/>
    <p:sldId id="274" r:id="rId24"/>
  </p:sldIdLst>
  <p:sldSz cx="18288000" cy="10287000"/>
  <p:notesSz cx="6858000" cy="9144000"/>
  <p:embeddedFontLst>
    <p:embeddedFont>
      <p:font typeface="Klein Bold" panose="020B0604020202020204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70" autoAdjust="0"/>
    <p:restoredTop sz="94582" autoAdjust="0"/>
  </p:normalViewPr>
  <p:slideViewPr>
    <p:cSldViewPr>
      <p:cViewPr>
        <p:scale>
          <a:sx n="52" d="100"/>
          <a:sy n="52" d="100"/>
        </p:scale>
        <p:origin x="113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D05D1-8849-884C-B295-B4B406D91AB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D9BFB-A03C-814C-8381-6331E360C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73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D9BFB-A03C-814C-8381-6331E360C5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85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43200" y="-4444263"/>
            <a:ext cx="10812392" cy="10812392"/>
          </a:xfrm>
          <a:custGeom>
            <a:avLst/>
            <a:gdLst/>
            <a:ahLst/>
            <a:cxnLst/>
            <a:rect l="l" t="t" r="r" b="b"/>
            <a:pathLst>
              <a:path w="10812392" h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407200" y="4432068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7078" y="7902203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4DA23A9-5BE3-5A31-5717-4C4C3AB2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2806700"/>
            <a:ext cx="10363200" cy="3098800"/>
          </a:xfrm>
        </p:spPr>
        <p:txBody>
          <a:bodyPr>
            <a:normAutofit/>
          </a:bodyPr>
          <a:lstStyle/>
          <a:p>
            <a:r>
              <a:rPr dirty="0"/>
              <a:t>Sentiment Classification Using NLP and Deep Neural Networks</a:t>
            </a:r>
            <a:r>
              <a:rPr lang="en-US" dirty="0"/>
              <a:t> : An Analysis of Movie Reviews</a:t>
            </a:r>
            <a:br>
              <a:rPr lang="en-US" dirty="0"/>
            </a:br>
            <a:endParaRPr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F4C521F-1C70-367F-885F-2B28328B182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896100" y="6368129"/>
            <a:ext cx="4495800" cy="27987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dirty="0"/>
          </a:p>
          <a:p>
            <a:pPr marL="0" indent="0" algn="ctr">
              <a:buNone/>
            </a:pPr>
            <a:r>
              <a:rPr b="1" dirty="0"/>
              <a:t>Group – 16</a:t>
            </a:r>
          </a:p>
          <a:p>
            <a:pPr marL="0" indent="0">
              <a:buNone/>
            </a:pPr>
            <a:r>
              <a:rPr dirty="0" err="1"/>
              <a:t>Sulakshana</a:t>
            </a:r>
            <a:r>
              <a:rPr dirty="0"/>
              <a:t> </a:t>
            </a:r>
            <a:r>
              <a:rPr dirty="0" err="1"/>
              <a:t>Thirunagari</a:t>
            </a:r>
            <a:endParaRPr lang="en-US" dirty="0"/>
          </a:p>
          <a:p>
            <a:pPr marL="0" indent="0">
              <a:buNone/>
            </a:pPr>
            <a:r>
              <a:rPr dirty="0" err="1"/>
              <a:t>Tejaswini</a:t>
            </a:r>
            <a:r>
              <a:rPr dirty="0"/>
              <a:t> Gadde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Samyukth</a:t>
            </a:r>
            <a:r>
              <a:rPr lang="en-US" dirty="0"/>
              <a:t> Challa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AFC4204-FE7F-D39C-627A-B074864D836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4249400" y="6908800"/>
            <a:ext cx="4038600" cy="27987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Professor</a:t>
            </a:r>
            <a:r>
              <a:rPr lang="en-US" dirty="0"/>
              <a:t> –</a:t>
            </a:r>
          </a:p>
          <a:p>
            <a:pPr marL="0" indent="0">
              <a:buNone/>
            </a:pPr>
            <a:r>
              <a:rPr lang="en-US" dirty="0"/>
              <a:t>Jesus A. Gonzalez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543800" y="-2845897"/>
            <a:ext cx="15978794" cy="15978794"/>
          </a:xfrm>
          <a:custGeom>
            <a:avLst/>
            <a:gdLst/>
            <a:ahLst/>
            <a:cxnLst/>
            <a:rect l="l" t="t" r="r" b="b"/>
            <a:pathLst>
              <a:path w="15978794" h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057400" y="4543367"/>
            <a:ext cx="4114800" cy="1200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8000" b="1" dirty="0">
                <a:solidFill>
                  <a:srgbClr val="FFFFFF"/>
                </a:solidFill>
                <a:latin typeface="+mj-lt"/>
                <a:ea typeface="Klein Bold"/>
                <a:cs typeface="Klein Bold"/>
                <a:sym typeface="Klein Bold"/>
              </a:rPr>
              <a:t>Agenda</a:t>
            </a:r>
            <a:endParaRPr lang="en-US" sz="9600" b="1" dirty="0">
              <a:solidFill>
                <a:srgbClr val="FFFFFF"/>
              </a:solidFill>
              <a:latin typeface="+mj-lt"/>
              <a:ea typeface="Klein Bold"/>
              <a:cs typeface="Klein Bold"/>
              <a:sym typeface="Klein Bold"/>
            </a:endParaRP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8ED87466-FE36-A4F3-A403-C3E58B1AF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0" y="2019300"/>
            <a:ext cx="7010400" cy="6705600"/>
          </a:xfrm>
        </p:spPr>
        <p:txBody>
          <a:bodyPr>
            <a:normAutofit/>
          </a:bodyPr>
          <a:lstStyle/>
          <a:p>
            <a:r>
              <a:rPr dirty="0"/>
              <a:t>Introduction</a:t>
            </a:r>
          </a:p>
          <a:p>
            <a:r>
              <a:rPr dirty="0"/>
              <a:t>Overview of Dataset</a:t>
            </a:r>
          </a:p>
          <a:p>
            <a:r>
              <a:rPr dirty="0"/>
              <a:t>Dataset </a:t>
            </a:r>
            <a:r>
              <a:rPr lang="en-US" dirty="0"/>
              <a:t>Preprocessing</a:t>
            </a:r>
            <a:endParaRPr dirty="0"/>
          </a:p>
          <a:p>
            <a:r>
              <a:rPr dirty="0"/>
              <a:t>Model Description</a:t>
            </a:r>
          </a:p>
          <a:p>
            <a:r>
              <a:rPr dirty="0"/>
              <a:t>Performance Comparison</a:t>
            </a:r>
          </a:p>
          <a:p>
            <a:r>
              <a:rPr dirty="0"/>
              <a:t>Strengths </a:t>
            </a:r>
            <a:r>
              <a:rPr lang="en-US" dirty="0"/>
              <a:t>of the project</a:t>
            </a:r>
          </a:p>
          <a:p>
            <a:r>
              <a:rPr dirty="0"/>
              <a:t>Areas of Improvement</a:t>
            </a:r>
          </a:p>
          <a:p>
            <a:r>
              <a:rPr dirty="0"/>
              <a:t>Conclusion</a:t>
            </a:r>
            <a:endParaRPr lang="en-US" dirty="0"/>
          </a:p>
          <a:p>
            <a:r>
              <a:rPr lang="en-US" dirty="0"/>
              <a:t>Future Work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700436-3867-B04E-4326-CF84ECFD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31C6095-9689-C5EB-17CD-F8D96BA02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8F25E4-2E27-EFBB-809A-F3144B4A3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8287996" cy="238611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9D8D3C0-0DBA-B72B-A44D-A97FA6710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" y="0"/>
            <a:ext cx="12172958" cy="238611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E729C29-1A7A-CE6D-7B4B-70769370A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172948" y="-1"/>
            <a:ext cx="6115047" cy="238611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9632EDD-0338-C20E-A9B1-3AAD5B456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025" y="-1"/>
            <a:ext cx="17598969" cy="2396149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3118377-5846-2ECA-7298-26E4F4F9DEE3}"/>
              </a:ext>
            </a:extLst>
          </p:cNvPr>
          <p:cNvSpPr txBox="1"/>
          <p:nvPr/>
        </p:nvSpPr>
        <p:spPr>
          <a:xfrm>
            <a:off x="1447800" y="441807"/>
            <a:ext cx="15453525" cy="1550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Klein Bold"/>
              </a:rPr>
              <a:t>Introduction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71844781-4454-7477-8FE0-6608BF0D4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3162299"/>
            <a:ext cx="15348045" cy="44196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/>
              <a:t>Sentiment analysis deciphers text emotions: positive, negative, neutral.</a:t>
            </a:r>
          </a:p>
          <a:p>
            <a:r>
              <a:rPr dirty="0"/>
              <a:t>Applications: product reviews, social media analysis, customer feedback.</a:t>
            </a:r>
          </a:p>
          <a:p>
            <a:r>
              <a:rPr dirty="0"/>
              <a:t>Deep learning models used: RNN, LSTM, CNN.</a:t>
            </a:r>
          </a:p>
          <a:p>
            <a:r>
              <a:rPr dirty="0"/>
              <a:t>Dataset: IMDB, 25,000 training and testing samples.</a:t>
            </a:r>
          </a:p>
        </p:txBody>
      </p:sp>
      <p:grpSp>
        <p:nvGrpSpPr>
          <p:cNvPr id="24" name="Group 2">
            <a:extLst>
              <a:ext uri="{FF2B5EF4-FFF2-40B4-BE49-F238E27FC236}">
                <a16:creationId xmlns:a16="http://schemas.microsoft.com/office/drawing/2014/main" id="{3B8FC7F3-7EA9-9F1B-C8C0-88AEE6961613}"/>
              </a:ext>
            </a:extLst>
          </p:cNvPr>
          <p:cNvGrpSpPr/>
          <p:nvPr/>
        </p:nvGrpSpPr>
        <p:grpSpPr>
          <a:xfrm>
            <a:off x="30562" y="18984"/>
            <a:ext cx="18288000" cy="2396148"/>
            <a:chOff x="2933700" y="3443003"/>
            <a:chExt cx="24384000" cy="5030819"/>
          </a:xfrm>
        </p:grpSpPr>
        <p:pic>
          <p:nvPicPr>
            <p:cNvPr id="26" name="Picture 3">
              <a:extLst>
                <a:ext uri="{FF2B5EF4-FFF2-40B4-BE49-F238E27FC236}">
                  <a16:creationId xmlns:a16="http://schemas.microsoft.com/office/drawing/2014/main" id="{091AA7F9-359B-017C-2FFC-D6D01AD97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27933" b="41099"/>
            <a:stretch>
              <a:fillRect/>
            </a:stretch>
          </p:blipFill>
          <p:spPr>
            <a:xfrm>
              <a:off x="2933700" y="3443003"/>
              <a:ext cx="24384000" cy="50308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3432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88500" y="2552700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022913" y="6112707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0" y="0"/>
            <a:ext cx="7782947" cy="10287000"/>
            <a:chOff x="0" y="0"/>
            <a:chExt cx="2478633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78633" cy="2709333"/>
            </a:xfrm>
            <a:custGeom>
              <a:avLst/>
              <a:gdLst/>
              <a:ahLst/>
              <a:cxnLst/>
              <a:rect l="l" t="t" r="r" b="b"/>
              <a:pathLst>
                <a:path w="2478633" h="27093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00" y="3363497"/>
            <a:ext cx="6746873" cy="2340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8000" b="1" dirty="0">
                <a:solidFill>
                  <a:srgbClr val="2A2E3A"/>
                </a:solidFill>
                <a:latin typeface="+mj-lt"/>
                <a:ea typeface="Klein Bold"/>
                <a:cs typeface="Klein Bold"/>
                <a:sym typeface="Klein Bold"/>
              </a:rPr>
              <a:t>Overview of the Dataset</a:t>
            </a:r>
            <a:endParaRPr lang="en-US" sz="8000" b="1" dirty="0">
              <a:solidFill>
                <a:srgbClr val="718BAB"/>
              </a:solidFill>
              <a:latin typeface="+mj-lt"/>
              <a:ea typeface="Klein Bold"/>
              <a:cs typeface="Klein Bold"/>
              <a:sym typeface="Klein Bold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3A32967-BF2E-897C-145D-5DC3F2A9E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0" y="2933700"/>
            <a:ext cx="8229600" cy="4610100"/>
          </a:xfrm>
        </p:spPr>
        <p:txBody>
          <a:bodyPr>
            <a:normAutofit/>
          </a:bodyPr>
          <a:lstStyle/>
          <a:p>
            <a:r>
              <a:rPr dirty="0"/>
              <a:t>IMDB dataset: 50,000 labeled reviews (positive/negative).</a:t>
            </a:r>
          </a:p>
          <a:p>
            <a:r>
              <a:rPr dirty="0"/>
              <a:t>Data split: 25,000 training, 25,000 testing.</a:t>
            </a:r>
          </a:p>
          <a:p>
            <a:r>
              <a:rPr dirty="0"/>
              <a:t>Sentiment balance: Equal proportion of positive and negative reviews.</a:t>
            </a:r>
          </a:p>
          <a:p>
            <a:r>
              <a:rPr dirty="0"/>
              <a:t>No neutral ratings: Polarity ≥ 7 (positive), ≤ 4 (negative).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070D1-3BB3-26E6-B2A6-7EDEFDE53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CE6A123-58AD-5A69-640D-71B3563B4BBA}"/>
              </a:ext>
            </a:extLst>
          </p:cNvPr>
          <p:cNvSpPr/>
          <p:nvPr/>
        </p:nvSpPr>
        <p:spPr>
          <a:xfrm>
            <a:off x="-7543800" y="-2845897"/>
            <a:ext cx="15978794" cy="15978794"/>
          </a:xfrm>
          <a:custGeom>
            <a:avLst/>
            <a:gdLst/>
            <a:ahLst/>
            <a:cxnLst/>
            <a:rect l="l" t="t" r="r" b="b"/>
            <a:pathLst>
              <a:path w="15978794" h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0C06AC6-CB42-37E3-87F9-0601175A0048}"/>
              </a:ext>
            </a:extLst>
          </p:cNvPr>
          <p:cNvSpPr txBox="1"/>
          <p:nvPr/>
        </p:nvSpPr>
        <p:spPr>
          <a:xfrm>
            <a:off x="457200" y="4381500"/>
            <a:ext cx="6934200" cy="2311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8000" b="1" dirty="0">
                <a:solidFill>
                  <a:srgbClr val="FFFFFF"/>
                </a:solidFill>
                <a:latin typeface="+mj-lt"/>
                <a:ea typeface="Klein Bold"/>
                <a:cs typeface="Klein Bold"/>
                <a:sym typeface="Klein Bold"/>
              </a:rPr>
              <a:t>Data Preprocessing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1DC178-5A56-AEF8-E35D-DA71D709F75D}"/>
              </a:ext>
            </a:extLst>
          </p:cNvPr>
          <p:cNvSpPr txBox="1"/>
          <p:nvPr/>
        </p:nvSpPr>
        <p:spPr>
          <a:xfrm>
            <a:off x="10134600" y="1714500"/>
            <a:ext cx="4800601" cy="7377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Loading the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Removing HTML Tags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Removing Diacritics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Expanding Contractions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Removing Numbers</a:t>
            </a:r>
          </a:p>
          <a:p>
            <a:pPr marL="347472" indent="-347472">
              <a:lnSpc>
                <a:spcPct val="150000"/>
              </a:lnSpc>
              <a:spcBef>
                <a:spcPts val="672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Correcting Typos</a:t>
            </a:r>
          </a:p>
          <a:p>
            <a:pPr marL="347472" indent="-347472">
              <a:lnSpc>
                <a:spcPct val="150000"/>
              </a:lnSpc>
              <a:spcBef>
                <a:spcPts val="672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Removing Punctuation</a:t>
            </a:r>
          </a:p>
          <a:p>
            <a:pPr marL="347472" indent="-347472">
              <a:lnSpc>
                <a:spcPct val="150000"/>
              </a:lnSpc>
              <a:spcBef>
                <a:spcPts val="672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Lemmatization</a:t>
            </a:r>
          </a:p>
          <a:p>
            <a:pPr marL="347472" indent="-347472">
              <a:lnSpc>
                <a:spcPct val="150000"/>
              </a:lnSpc>
              <a:spcBef>
                <a:spcPts val="672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Removing Double Spaces</a:t>
            </a:r>
          </a:p>
          <a:p>
            <a:pPr marL="347472" indent="-347472">
              <a:lnSpc>
                <a:spcPct val="150000"/>
              </a:lnSpc>
              <a:spcBef>
                <a:spcPts val="672"/>
              </a:spcBef>
              <a:buFont typeface="Arial" panose="020B0604020202020204" pitchFamily="34" charset="0"/>
              <a:buChar char="•"/>
            </a:pPr>
            <a:r>
              <a:rPr lang="en-US" sz="2800" dirty="0" err="1"/>
              <a:t>Stopword</a:t>
            </a:r>
            <a:r>
              <a:rPr lang="en-US" sz="2800" dirty="0"/>
              <a:t> Removal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53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fficeArt object">
            <a:extLst>
              <a:ext uri="{FF2B5EF4-FFF2-40B4-BE49-F238E27FC236}">
                <a16:creationId xmlns:a16="http://schemas.microsoft.com/office/drawing/2014/main" id="{8A605C8A-1622-396C-A59A-50325B3FF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6" t="15759" r="30077" b="8148"/>
          <a:stretch>
            <a:fillRect/>
          </a:stretch>
        </p:blipFill>
        <p:spPr bwMode="auto">
          <a:xfrm>
            <a:off x="3424789" y="355908"/>
            <a:ext cx="12272411" cy="91309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59250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62700" y="-2175019"/>
            <a:ext cx="12725400" cy="13960430"/>
          </a:xfrm>
          <a:custGeom>
            <a:avLst/>
            <a:gdLst/>
            <a:ahLst/>
            <a:cxnLst/>
            <a:rect l="l" t="t" r="r" b="b"/>
            <a:pathLst>
              <a:path w="13960430" h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28086" y="3638210"/>
            <a:ext cx="5534402" cy="2333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8000" b="1" dirty="0">
                <a:solidFill>
                  <a:schemeClr val="tx2"/>
                </a:solidFill>
                <a:latin typeface="+mj-lt"/>
                <a:ea typeface="Klein Bold"/>
                <a:cs typeface="Klein Bold"/>
                <a:sym typeface="Klein Bold"/>
              </a:rPr>
              <a:t>Model Description</a:t>
            </a:r>
          </a:p>
        </p:txBody>
      </p:sp>
      <p:sp>
        <p:nvSpPr>
          <p:cNvPr id="8" name="Freeform 8"/>
          <p:cNvSpPr/>
          <p:nvPr/>
        </p:nvSpPr>
        <p:spPr>
          <a:xfrm>
            <a:off x="10733254" y="2143069"/>
            <a:ext cx="425574" cy="566744"/>
          </a:xfrm>
          <a:custGeom>
            <a:avLst/>
            <a:gdLst/>
            <a:ahLst/>
            <a:cxnLst/>
            <a:rect l="l" t="t" r="r" b="b"/>
            <a:pathLst>
              <a:path w="425574" h="566744">
                <a:moveTo>
                  <a:pt x="0" y="0"/>
                </a:moveTo>
                <a:lnTo>
                  <a:pt x="425574" y="0"/>
                </a:lnTo>
                <a:lnTo>
                  <a:pt x="425574" y="566745"/>
                </a:lnTo>
                <a:lnTo>
                  <a:pt x="0" y="566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0610812" y="4805196"/>
            <a:ext cx="670457" cy="676608"/>
          </a:xfrm>
          <a:custGeom>
            <a:avLst/>
            <a:gdLst/>
            <a:ahLst/>
            <a:cxnLst/>
            <a:rect l="l" t="t" r="r" b="b"/>
            <a:pathLst>
              <a:path w="670457" h="676608">
                <a:moveTo>
                  <a:pt x="0" y="0"/>
                </a:moveTo>
                <a:lnTo>
                  <a:pt x="670458" y="0"/>
                </a:lnTo>
                <a:lnTo>
                  <a:pt x="670458" y="676608"/>
                </a:lnTo>
                <a:lnTo>
                  <a:pt x="0" y="6766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0733254" y="7543282"/>
            <a:ext cx="442544" cy="627318"/>
          </a:xfrm>
          <a:custGeom>
            <a:avLst/>
            <a:gdLst/>
            <a:ahLst/>
            <a:cxnLst/>
            <a:rect l="l" t="t" r="r" b="b"/>
            <a:pathLst>
              <a:path w="442544" h="627318">
                <a:moveTo>
                  <a:pt x="0" y="0"/>
                </a:moveTo>
                <a:lnTo>
                  <a:pt x="442544" y="0"/>
                </a:lnTo>
                <a:lnTo>
                  <a:pt x="442544" y="627318"/>
                </a:lnTo>
                <a:lnTo>
                  <a:pt x="0" y="6273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80AEF0D9-345C-5BCE-FDFC-7182124A59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81800" y="3344881"/>
            <a:ext cx="10818595" cy="316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RNN: Sequential learning with GRU layers.</a:t>
            </a:r>
          </a:p>
          <a:p>
            <a:pPr>
              <a:lnSpc>
                <a:spcPct val="150000"/>
              </a:lnSpc>
            </a:pPr>
            <a:r>
              <a:rPr lang="en-US" dirty="0"/>
              <a:t>LSTM: Captures long-term dependencies in text.</a:t>
            </a:r>
          </a:p>
          <a:p>
            <a:pPr>
              <a:lnSpc>
                <a:spcPct val="150000"/>
              </a:lnSpc>
            </a:pPr>
            <a:r>
              <a:rPr lang="en-US" dirty="0"/>
              <a:t>CNN: Focuses on local feature extraction for sentiment classification.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228333" cy="10287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217216" cy="10287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017FC9-F498-334F-BA23-5FC97C510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741932"/>
            <a:ext cx="5404104" cy="6789420"/>
          </a:xfrm>
        </p:spPr>
        <p:txBody>
          <a:bodyPr>
            <a:normAutofit/>
          </a:bodyPr>
          <a:lstStyle/>
          <a:p>
            <a:r>
              <a:rPr lang="en-US" sz="6000"/>
              <a:t>LAYERS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22292"/>
            <a:ext cx="192024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197FCD1-A549-0E7E-EAC4-BDAE704586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74082" y="1787799"/>
            <a:ext cx="10080518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 Layer: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words into dense vectors.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Activation Functions: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hidden layers, Sigmoid for output.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Regularization: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Dropout and Batch Normalization to prevent overfitting.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Adam with varying learning rates.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Callbacks: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EarlyStopping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ReduceLROnPlateau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optimize training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052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828799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54961E-E931-5900-5DC5-3764B835D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41" y="800101"/>
            <a:ext cx="6120543" cy="1130516"/>
          </a:xfrm>
        </p:spPr>
        <p:txBody>
          <a:bodyPr anchor="ctr">
            <a:normAutofit/>
          </a:bodyPr>
          <a:lstStyle/>
          <a:p>
            <a:r>
              <a:rPr lang="en-US" sz="6000" dirty="0"/>
              <a:t>Improved RNN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0E8C1-C051-626E-6104-F21B3D2B9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704" y="2857500"/>
            <a:ext cx="6120542" cy="6502617"/>
          </a:xfrm>
        </p:spPr>
        <p:txBody>
          <a:bodyPr anchor="ctr">
            <a:normAutofit lnSpcReduction="10000"/>
          </a:bodyPr>
          <a:lstStyle/>
          <a:p>
            <a:r>
              <a:rPr lang="en-US" altLang="en-US" sz="3000" b="1" dirty="0"/>
              <a:t>Embedding Layer:</a:t>
            </a:r>
            <a:r>
              <a:rPr lang="en-US" altLang="en-US" sz="3000" dirty="0"/>
              <a:t> </a:t>
            </a:r>
            <a:r>
              <a:rPr lang="en-US" altLang="en-US" sz="3000" dirty="0" err="1"/>
              <a:t>max_vocab_size</a:t>
            </a:r>
            <a:r>
              <a:rPr lang="en-US" altLang="en-US" sz="3000" dirty="0"/>
              <a:t>=5000,</a:t>
            </a:r>
          </a:p>
          <a:p>
            <a:endParaRPr lang="en-US" altLang="en-US" sz="3000" b="1" dirty="0"/>
          </a:p>
          <a:p>
            <a:r>
              <a:rPr lang="en-US" altLang="en-US" sz="3000" b="1" dirty="0"/>
              <a:t>GRU Layer:</a:t>
            </a:r>
            <a:r>
              <a:rPr lang="en-US" altLang="en-US" sz="3000" dirty="0"/>
              <a:t> 32 units with dropout </a:t>
            </a:r>
          </a:p>
          <a:p>
            <a:endParaRPr lang="en-US" altLang="en-US" sz="3000" b="1" dirty="0"/>
          </a:p>
          <a:p>
            <a:r>
              <a:rPr lang="en-US" altLang="en-US" sz="3000" b="1" dirty="0"/>
              <a:t>Dense Layers:</a:t>
            </a:r>
            <a:r>
              <a:rPr lang="en-US" altLang="en-US" sz="3000" dirty="0"/>
              <a:t> 16 units (</a:t>
            </a:r>
            <a:r>
              <a:rPr lang="en-US" altLang="en-US" sz="3000" dirty="0" err="1"/>
              <a:t>ReLU</a:t>
            </a:r>
            <a:r>
              <a:rPr lang="en-US" altLang="en-US" sz="3000" dirty="0"/>
              <a:t>) and output layer (Sigmoid). </a:t>
            </a:r>
          </a:p>
          <a:p>
            <a:endParaRPr lang="en-US" altLang="en-US" sz="3000" dirty="0"/>
          </a:p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Best performance at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num_words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5000 with highest accuracy of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0.8358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endParaRPr lang="en-US" altLang="en-US" sz="3000" dirty="0"/>
          </a:p>
          <a:p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Higher vocabulary sizes with fewer epochs slightly decreased accuracy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endParaRPr lang="en-US" altLang="en-US" sz="3000" dirty="0"/>
          </a:p>
          <a:p>
            <a:endParaRPr lang="en-US" sz="30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300" y="0"/>
            <a:ext cx="10172698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2E124-7461-1A53-910B-108DEC2BEB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371" b="-1"/>
          <a:stretch/>
        </p:blipFill>
        <p:spPr>
          <a:xfrm>
            <a:off x="7924800" y="571500"/>
            <a:ext cx="8812515" cy="891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53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6EFEC2-D916-2F47-1710-E4B72143A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595" y="753032"/>
            <a:ext cx="6296405" cy="1033736"/>
          </a:xfrm>
        </p:spPr>
        <p:txBody>
          <a:bodyPr anchor="b">
            <a:normAutofit/>
          </a:bodyPr>
          <a:lstStyle/>
          <a:p>
            <a:r>
              <a:rPr lang="en-US" sz="6000" dirty="0"/>
              <a:t>LSTM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D74A72-18AC-A59D-48FD-F6E45D92DE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04595" y="2476500"/>
            <a:ext cx="6601205" cy="64349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</a:rPr>
              <a:t>Embedding Layer: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 Variable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</a:rPr>
              <a:t>num_words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</a:rPr>
              <a:t>LSTM Layer: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 Configurable size (s, m, l) with dropout.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</a:rPr>
              <a:t>Dense Layers: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</a:rPr>
              <a:t>ReLU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 activation and Sigmoid output.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Best accuracy at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num_words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2500,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model_size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'm' with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0.8408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Balanced precision and recall for both classes in optimal configurations.</a:t>
            </a:r>
            <a:endParaRPr lang="en-US" altLang="en-US" sz="2800" dirty="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30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B55CCA-2B25-ABF0-7A3E-8D88404B9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571500"/>
            <a:ext cx="8676605" cy="82296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9601198"/>
            <a:ext cx="18288000" cy="685160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57900" y="9601198"/>
            <a:ext cx="12230097" cy="685158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01BECFD-3E56-5C97-5E6F-BC0FAD3C3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1290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84352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CCA358-AE81-2F44-AF6E-23CFEDC8E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595" y="753031"/>
            <a:ext cx="6372605" cy="1190069"/>
          </a:xfrm>
        </p:spPr>
        <p:txBody>
          <a:bodyPr anchor="b">
            <a:normAutofit/>
          </a:bodyPr>
          <a:lstStyle/>
          <a:p>
            <a:r>
              <a:rPr lang="en-US" sz="6000" dirty="0"/>
              <a:t>CNN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191676-78E9-850F-21F2-73D0DA577A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17384" y="2324100"/>
            <a:ext cx="5956667" cy="65873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</a:rPr>
              <a:t>Embedding Layer: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 Variable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</a:rPr>
              <a:t>num_words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</a:rPr>
              <a:t>Convolutional Layers: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 Two Conv1D layers with varying filters.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</a:rPr>
              <a:t>Pooling Layers: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 MaxPooling1D and GlobalMaxPooling1D for dimensionality reduction.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</a:rPr>
              <a:t>Dense Layers: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</a:rPr>
              <a:t>ReLU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 activation,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</a:rPr>
              <a:t>BatchNormalization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</a:rPr>
              <a:t>, Dropout, and Sigmoid output.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2184999" y="-7"/>
            <a:ext cx="6138782" cy="10286999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2184999" y="-3"/>
            <a:ext cx="6138782" cy="9600553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2184999" y="-33"/>
            <a:ext cx="6103001" cy="9600583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2184999" y="-15"/>
            <a:ext cx="5417201" cy="10286995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2D35BE-6EA9-1CD0-3D77-8445307F1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1" y="1333500"/>
            <a:ext cx="8341016" cy="757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76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8287996" cy="238611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" y="0"/>
            <a:ext cx="12172958" cy="238611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172948" y="-1"/>
            <a:ext cx="6115047" cy="238611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025" y="-1"/>
            <a:ext cx="17598969" cy="2396149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E4DBB3-3F2A-013D-04CB-321E338F5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398" y="441807"/>
            <a:ext cx="14843927" cy="1550503"/>
          </a:xfrm>
        </p:spPr>
        <p:txBody>
          <a:bodyPr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0DF1F-6368-A15C-0C8B-D30B926F4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398" y="3477295"/>
            <a:ext cx="14586047" cy="5525037"/>
          </a:xfrm>
        </p:spPr>
        <p:txBody>
          <a:bodyPr anchor="ctr">
            <a:normAutofit/>
          </a:bodyPr>
          <a:lstStyle/>
          <a:p>
            <a:r>
              <a:rPr lang="en-US" sz="3000"/>
              <a:t>Data Preprocessing (Tokenization, Padding)</a:t>
            </a:r>
          </a:p>
          <a:p>
            <a:r>
              <a:rPr lang="en-US" sz="3000"/>
              <a:t>Initialize the model with different parameters</a:t>
            </a:r>
          </a:p>
          <a:p>
            <a:r>
              <a:rPr lang="en-US" sz="3000"/>
              <a:t>Model Training with Early Stopping to prevent overfitting</a:t>
            </a:r>
          </a:p>
          <a:p>
            <a:r>
              <a:rPr lang="en-US" sz="3000"/>
              <a:t>training will be stopped when there is no accuracy improvements for the epochs</a:t>
            </a:r>
          </a:p>
          <a:p>
            <a:r>
              <a:rPr lang="en-US" sz="3000"/>
              <a:t>Evaluation on Validation Set</a:t>
            </a:r>
          </a:p>
          <a:p>
            <a:r>
              <a:rPr lang="en-US" sz="3000"/>
              <a:t>Perform multiple experiments with hyper parameters</a:t>
            </a:r>
          </a:p>
        </p:txBody>
      </p:sp>
    </p:spTree>
    <p:extLst>
      <p:ext uri="{BB962C8B-B14F-4D97-AF65-F5344CB8AC3E}">
        <p14:creationId xmlns:p14="http://schemas.microsoft.com/office/powerpoint/2010/main" val="504372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" y="0"/>
            <a:ext cx="18287997" cy="2363932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2193285" y="0"/>
            <a:ext cx="6094715" cy="2364618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61666" y="-7961667"/>
            <a:ext cx="2364669" cy="18288003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314329-31DD-1F11-9EA2-24DCF2A32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395" y="523297"/>
            <a:ext cx="15066035" cy="1316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Hyperparameters</a:t>
            </a:r>
            <a:br>
              <a:rPr lang="en-US" sz="4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2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6C110C2-438B-B2B5-12BE-34A2C02C7E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2005784"/>
              </p:ext>
            </p:extLst>
          </p:nvPr>
        </p:nvGraphicFramePr>
        <p:xfrm>
          <a:off x="1600429" y="3168868"/>
          <a:ext cx="15123053" cy="628921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838220">
                  <a:extLst>
                    <a:ext uri="{9D8B030D-6E8A-4147-A177-3AD203B41FA5}">
                      <a16:colId xmlns:a16="http://schemas.microsoft.com/office/drawing/2014/main" val="242837032"/>
                    </a:ext>
                  </a:extLst>
                </a:gridCol>
                <a:gridCol w="10284833">
                  <a:extLst>
                    <a:ext uri="{9D8B030D-6E8A-4147-A177-3AD203B41FA5}">
                      <a16:colId xmlns:a16="http://schemas.microsoft.com/office/drawing/2014/main" val="2411373383"/>
                    </a:ext>
                  </a:extLst>
                </a:gridCol>
              </a:tblGrid>
              <a:tr h="898459">
                <a:tc>
                  <a:txBody>
                    <a:bodyPr/>
                    <a:lstStyle/>
                    <a:p>
                      <a:r>
                        <a:rPr lang="en-US" sz="2600" b="1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Hyperparameter</a:t>
                      </a:r>
                      <a:endParaRPr lang="en-US" sz="26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384194" marR="230516" marT="230516" marB="230516" anchor="ctr"/>
                </a:tc>
                <a:tc>
                  <a:txBody>
                    <a:bodyPr/>
                    <a:lstStyle/>
                    <a:p>
                      <a:r>
                        <a:rPr lang="en-US" sz="2600" b="1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Selected Values</a:t>
                      </a:r>
                      <a:endParaRPr lang="en-US" sz="26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384194" marR="230516" marT="230516" marB="230516" anchor="ctr"/>
                </a:tc>
                <a:extLst>
                  <a:ext uri="{0D108BD9-81ED-4DB2-BD59-A6C34878D82A}">
                    <a16:rowId xmlns:a16="http://schemas.microsoft.com/office/drawing/2014/main" val="3026648874"/>
                  </a:ext>
                </a:extLst>
              </a:tr>
              <a:tr h="898459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Vocabulary Size</a:t>
                      </a:r>
                    </a:p>
                  </a:txBody>
                  <a:tcPr marL="384194" marR="230516" marT="230516" marB="230516" anchor="ctr"/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500, 750, 1000, 2500, 5000, 7500, 10000, 20000</a:t>
                      </a:r>
                    </a:p>
                  </a:txBody>
                  <a:tcPr marL="384194" marR="230516" marT="230516" marB="230516" anchor="ctr"/>
                </a:tc>
                <a:extLst>
                  <a:ext uri="{0D108BD9-81ED-4DB2-BD59-A6C34878D82A}">
                    <a16:rowId xmlns:a16="http://schemas.microsoft.com/office/drawing/2014/main" val="1869959169"/>
                  </a:ext>
                </a:extLst>
              </a:tr>
              <a:tr h="898459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Sequence Length</a:t>
                      </a:r>
                    </a:p>
                  </a:txBody>
                  <a:tcPr marL="384194" marR="230516" marT="230516" marB="230516" anchor="ctr"/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100 or 150</a:t>
                      </a:r>
                    </a:p>
                  </a:txBody>
                  <a:tcPr marL="384194" marR="230516" marT="230516" marB="230516" anchor="ctr"/>
                </a:tc>
                <a:extLst>
                  <a:ext uri="{0D108BD9-81ED-4DB2-BD59-A6C34878D82A}">
                    <a16:rowId xmlns:a16="http://schemas.microsoft.com/office/drawing/2014/main" val="759822486"/>
                  </a:ext>
                </a:extLst>
              </a:tr>
              <a:tr h="898459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Learning Rate</a:t>
                      </a:r>
                    </a:p>
                  </a:txBody>
                  <a:tcPr marL="384194" marR="230516" marT="230516" marB="230516" anchor="ctr"/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0.003</a:t>
                      </a:r>
                    </a:p>
                  </a:txBody>
                  <a:tcPr marL="384194" marR="230516" marT="230516" marB="230516" anchor="ctr"/>
                </a:tc>
                <a:extLst>
                  <a:ext uri="{0D108BD9-81ED-4DB2-BD59-A6C34878D82A}">
                    <a16:rowId xmlns:a16="http://schemas.microsoft.com/office/drawing/2014/main" val="718687836"/>
                  </a:ext>
                </a:extLst>
              </a:tr>
              <a:tr h="898459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Batch Size</a:t>
                      </a:r>
                    </a:p>
                  </a:txBody>
                  <a:tcPr marL="384194" marR="230516" marT="230516" marB="230516" anchor="ctr"/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256 or 512</a:t>
                      </a:r>
                    </a:p>
                  </a:txBody>
                  <a:tcPr marL="384194" marR="230516" marT="230516" marB="230516" anchor="ctr"/>
                </a:tc>
                <a:extLst>
                  <a:ext uri="{0D108BD9-81ED-4DB2-BD59-A6C34878D82A}">
                    <a16:rowId xmlns:a16="http://schemas.microsoft.com/office/drawing/2014/main" val="3671363782"/>
                  </a:ext>
                </a:extLst>
              </a:tr>
              <a:tr h="898459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Epochs</a:t>
                      </a:r>
                    </a:p>
                  </a:txBody>
                  <a:tcPr marL="384194" marR="230516" marT="230516" marB="230516" anchor="ctr"/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10 or 100</a:t>
                      </a:r>
                    </a:p>
                  </a:txBody>
                  <a:tcPr marL="384194" marR="230516" marT="230516" marB="230516" anchor="ctr"/>
                </a:tc>
                <a:extLst>
                  <a:ext uri="{0D108BD9-81ED-4DB2-BD59-A6C34878D82A}">
                    <a16:rowId xmlns:a16="http://schemas.microsoft.com/office/drawing/2014/main" val="1450367896"/>
                  </a:ext>
                </a:extLst>
              </a:tr>
              <a:tr h="898459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Model Size</a:t>
                      </a:r>
                    </a:p>
                  </a:txBody>
                  <a:tcPr marL="384194" marR="230516" marT="230516" marB="230516" anchor="ctr"/>
                </a:tc>
                <a:tc>
                  <a:txBody>
                    <a:bodyPr/>
                    <a:lstStyle/>
                    <a:p>
                      <a:r>
                        <a:rPr lang="en-US" sz="2600" cap="none" spc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xs</a:t>
                      </a:r>
                      <a:r>
                        <a:rPr lang="en-US" sz="26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, s, m, l</a:t>
                      </a:r>
                    </a:p>
                  </a:txBody>
                  <a:tcPr marL="384194" marR="230516" marT="230516" marB="230516" anchor="ctr"/>
                </a:tc>
                <a:extLst>
                  <a:ext uri="{0D108BD9-81ED-4DB2-BD59-A6C34878D82A}">
                    <a16:rowId xmlns:a16="http://schemas.microsoft.com/office/drawing/2014/main" val="2819643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7204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02F8E-E6A8-8D8C-28B2-ED769A99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70414"/>
            <a:ext cx="16078200" cy="446353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RNN Model performance</a:t>
            </a:r>
            <a:br>
              <a:rPr lang="en-US" sz="4400" dirty="0">
                <a:solidFill>
                  <a:schemeClr val="tx1"/>
                </a:solidFill>
              </a:rPr>
            </a:br>
            <a:endParaRPr lang="en-US" dirty="0"/>
          </a:p>
        </p:txBody>
      </p:sp>
      <p:graphicFrame>
        <p:nvGraphicFramePr>
          <p:cNvPr id="34" name="Content Placeholder 33">
            <a:extLst>
              <a:ext uri="{FF2B5EF4-FFF2-40B4-BE49-F238E27FC236}">
                <a16:creationId xmlns:a16="http://schemas.microsoft.com/office/drawing/2014/main" id="{E4C62B8E-256F-8B99-2961-AC5EAEA0F8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5328037"/>
              </p:ext>
            </p:extLst>
          </p:nvPr>
        </p:nvGraphicFramePr>
        <p:xfrm>
          <a:off x="1260988" y="1472079"/>
          <a:ext cx="8991599" cy="610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6281">
                  <a:extLst>
                    <a:ext uri="{9D8B030D-6E8A-4147-A177-3AD203B41FA5}">
                      <a16:colId xmlns:a16="http://schemas.microsoft.com/office/drawing/2014/main" val="1951114339"/>
                    </a:ext>
                  </a:extLst>
                </a:gridCol>
                <a:gridCol w="847375">
                  <a:extLst>
                    <a:ext uri="{9D8B030D-6E8A-4147-A177-3AD203B41FA5}">
                      <a16:colId xmlns:a16="http://schemas.microsoft.com/office/drawing/2014/main" val="652171289"/>
                    </a:ext>
                  </a:extLst>
                </a:gridCol>
                <a:gridCol w="941529">
                  <a:extLst>
                    <a:ext uri="{9D8B030D-6E8A-4147-A177-3AD203B41FA5}">
                      <a16:colId xmlns:a16="http://schemas.microsoft.com/office/drawing/2014/main" val="299720313"/>
                    </a:ext>
                  </a:extLst>
                </a:gridCol>
                <a:gridCol w="873436">
                  <a:extLst>
                    <a:ext uri="{9D8B030D-6E8A-4147-A177-3AD203B41FA5}">
                      <a16:colId xmlns:a16="http://schemas.microsoft.com/office/drawing/2014/main" val="4096975631"/>
                    </a:ext>
                  </a:extLst>
                </a:gridCol>
                <a:gridCol w="909864">
                  <a:extLst>
                    <a:ext uri="{9D8B030D-6E8A-4147-A177-3AD203B41FA5}">
                      <a16:colId xmlns:a16="http://schemas.microsoft.com/office/drawing/2014/main" val="992791369"/>
                    </a:ext>
                  </a:extLst>
                </a:gridCol>
                <a:gridCol w="909864">
                  <a:extLst>
                    <a:ext uri="{9D8B030D-6E8A-4147-A177-3AD203B41FA5}">
                      <a16:colId xmlns:a16="http://schemas.microsoft.com/office/drawing/2014/main" val="3126395683"/>
                    </a:ext>
                  </a:extLst>
                </a:gridCol>
                <a:gridCol w="909864">
                  <a:extLst>
                    <a:ext uri="{9D8B030D-6E8A-4147-A177-3AD203B41FA5}">
                      <a16:colId xmlns:a16="http://schemas.microsoft.com/office/drawing/2014/main" val="3895024232"/>
                    </a:ext>
                  </a:extLst>
                </a:gridCol>
                <a:gridCol w="963386">
                  <a:extLst>
                    <a:ext uri="{9D8B030D-6E8A-4147-A177-3AD203B41FA5}">
                      <a16:colId xmlns:a16="http://schemas.microsoft.com/office/drawing/2014/main" val="1820327758"/>
                    </a:ext>
                  </a:extLst>
                </a:gridCol>
              </a:tblGrid>
              <a:tr h="763650">
                <a:tc>
                  <a:txBody>
                    <a:bodyPr/>
                    <a:lstStyle/>
                    <a:p>
                      <a:r>
                        <a:rPr lang="en-US" sz="1600" b="1" dirty="0"/>
                        <a:t>Hyperparameters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Model Accuracy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Precision (0)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Recall (0)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F1-score (0)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Precision (1)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Recall (1)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F1-score (1)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6745307"/>
                  </a:ext>
                </a:extLst>
              </a:tr>
              <a:tr h="489200"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num_words</a:t>
                      </a:r>
                      <a:r>
                        <a:rPr lang="en-US" sz="1600" dirty="0"/>
                        <a:t>=500, size='s'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5205431"/>
                  </a:ext>
                </a:extLst>
              </a:tr>
              <a:tr h="360608"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num_words</a:t>
                      </a:r>
                      <a:r>
                        <a:rPr lang="en-US" sz="1600" dirty="0"/>
                        <a:t>=750, size='s’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0.7859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5595985"/>
                  </a:ext>
                </a:extLst>
              </a:tr>
              <a:tr h="331921"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num_words</a:t>
                      </a:r>
                      <a:r>
                        <a:rPr lang="en-US" sz="1600" dirty="0"/>
                        <a:t>=1000, size='s'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0.8206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085514"/>
                  </a:ext>
                </a:extLst>
              </a:tr>
              <a:tr h="489200"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num_words</a:t>
                      </a:r>
                      <a:r>
                        <a:rPr lang="en-US" sz="1600" dirty="0"/>
                        <a:t>=2500, size='m'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0.8331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2918753"/>
                  </a:ext>
                </a:extLst>
              </a:tr>
              <a:tr h="489200"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num_words</a:t>
                      </a:r>
                      <a:r>
                        <a:rPr lang="en-US" sz="1600" dirty="0"/>
                        <a:t>=5000, size='m'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0.8337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3895636"/>
                  </a:ext>
                </a:extLst>
              </a:tr>
              <a:tr h="331921"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num_words</a:t>
                      </a:r>
                      <a:r>
                        <a:rPr lang="en-US" sz="1600" dirty="0"/>
                        <a:t>=5000, size='m'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378849"/>
                  </a:ext>
                </a:extLst>
              </a:tr>
              <a:tr h="489200"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num_words</a:t>
                      </a:r>
                      <a:r>
                        <a:rPr lang="en-US" sz="1600" dirty="0"/>
                        <a:t>=7500, size='m'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0.7944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4226678"/>
                  </a:ext>
                </a:extLst>
              </a:tr>
              <a:tr h="489200"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num_words</a:t>
                      </a:r>
                      <a:r>
                        <a:rPr lang="en-US" sz="1600" dirty="0"/>
                        <a:t>=7500, size='m'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0.7826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690969"/>
                  </a:ext>
                </a:extLst>
              </a:tr>
              <a:tr h="331921"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num_words</a:t>
                      </a:r>
                      <a:r>
                        <a:rPr lang="en-US" sz="1600" dirty="0"/>
                        <a:t>=10000, size='l’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1202939"/>
                  </a:ext>
                </a:extLst>
              </a:tr>
              <a:tr h="489200"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num_words</a:t>
                      </a:r>
                      <a:r>
                        <a:rPr lang="en-US" sz="1600" dirty="0"/>
                        <a:t>=10000, size='l’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0.7764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792060"/>
                  </a:ext>
                </a:extLst>
              </a:tr>
              <a:tr h="489200"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num_words</a:t>
                      </a:r>
                      <a:r>
                        <a:rPr lang="en-US" sz="1600" dirty="0"/>
                        <a:t>=20000, size='l'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0.7977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781366"/>
                  </a:ext>
                </a:extLst>
              </a:tr>
              <a:tr h="489200"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num_words</a:t>
                      </a:r>
                      <a:r>
                        <a:rPr lang="en-US" sz="1600" dirty="0"/>
                        <a:t>=20000, size='l’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207563"/>
                  </a:ext>
                </a:extLst>
              </a:tr>
            </a:tbl>
          </a:graphicData>
        </a:graphic>
      </p:graphicFrame>
      <p:pic>
        <p:nvPicPr>
          <p:cNvPr id="36" name="Picture 35">
            <a:extLst>
              <a:ext uri="{FF2B5EF4-FFF2-40B4-BE49-F238E27FC236}">
                <a16:creationId xmlns:a16="http://schemas.microsoft.com/office/drawing/2014/main" id="{E3555B4D-7E68-F514-3219-11B5E5528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19" y="1027672"/>
            <a:ext cx="6066764" cy="411582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B0E80F1-14AF-AB78-7702-E02D3423C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1113" y="5400758"/>
            <a:ext cx="6160852" cy="411582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35B8D4D-BD01-2B39-1723-7FF46C2EB48F}"/>
              </a:ext>
            </a:extLst>
          </p:cNvPr>
          <p:cNvSpPr txBox="1"/>
          <p:nvPr/>
        </p:nvSpPr>
        <p:spPr>
          <a:xfrm>
            <a:off x="1275735" y="7830399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Best Accuracy: 0.83748 with </a:t>
            </a:r>
            <a:r>
              <a:rPr lang="en-US" sz="1800" dirty="0" err="1"/>
              <a:t>num_words</a:t>
            </a:r>
            <a:r>
              <a:rPr lang="en-US" sz="1800" dirty="0"/>
              <a:t> = 5000, epochs = 100.</a:t>
            </a:r>
          </a:p>
          <a:p>
            <a:endParaRPr lang="en-US" sz="1800" dirty="0"/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optimal RNN configuration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this sentiment analysis task is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num_words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5000, epochs = 100, yielding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0.8358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0749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CCF92-D103-59DA-A02D-C82C2CBE1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395" y="523297"/>
            <a:ext cx="15066035" cy="1316594"/>
          </a:xfrm>
        </p:spPr>
        <p:txBody>
          <a:bodyPr anchor="ctr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775392AC-EE13-499E-8E0B-60EA06551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0671" y="377190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2" name="Content Placeholder 21">
            <a:extLst>
              <a:ext uri="{FF2B5EF4-FFF2-40B4-BE49-F238E27FC236}">
                <a16:creationId xmlns:a16="http://schemas.microsoft.com/office/drawing/2014/main" id="{0EDCC075-3A47-55B5-18C0-1D127E4279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7586554"/>
              </p:ext>
            </p:extLst>
          </p:nvPr>
        </p:nvGraphicFramePr>
        <p:xfrm>
          <a:off x="685800" y="1345692"/>
          <a:ext cx="10134599" cy="76840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63391">
                  <a:extLst>
                    <a:ext uri="{9D8B030D-6E8A-4147-A177-3AD203B41FA5}">
                      <a16:colId xmlns:a16="http://schemas.microsoft.com/office/drawing/2014/main" val="2935809195"/>
                    </a:ext>
                  </a:extLst>
                </a:gridCol>
                <a:gridCol w="858262">
                  <a:extLst>
                    <a:ext uri="{9D8B030D-6E8A-4147-A177-3AD203B41FA5}">
                      <a16:colId xmlns:a16="http://schemas.microsoft.com/office/drawing/2014/main" val="170355909"/>
                    </a:ext>
                  </a:extLst>
                </a:gridCol>
                <a:gridCol w="1124759">
                  <a:extLst>
                    <a:ext uri="{9D8B030D-6E8A-4147-A177-3AD203B41FA5}">
                      <a16:colId xmlns:a16="http://schemas.microsoft.com/office/drawing/2014/main" val="2965313219"/>
                    </a:ext>
                  </a:extLst>
                </a:gridCol>
                <a:gridCol w="887001">
                  <a:extLst>
                    <a:ext uri="{9D8B030D-6E8A-4147-A177-3AD203B41FA5}">
                      <a16:colId xmlns:a16="http://schemas.microsoft.com/office/drawing/2014/main" val="3915511589"/>
                    </a:ext>
                  </a:extLst>
                </a:gridCol>
                <a:gridCol w="1094713">
                  <a:extLst>
                    <a:ext uri="{9D8B030D-6E8A-4147-A177-3AD203B41FA5}">
                      <a16:colId xmlns:a16="http://schemas.microsoft.com/office/drawing/2014/main" val="3368956988"/>
                    </a:ext>
                  </a:extLst>
                </a:gridCol>
                <a:gridCol w="1124759">
                  <a:extLst>
                    <a:ext uri="{9D8B030D-6E8A-4147-A177-3AD203B41FA5}">
                      <a16:colId xmlns:a16="http://schemas.microsoft.com/office/drawing/2014/main" val="3231646756"/>
                    </a:ext>
                  </a:extLst>
                </a:gridCol>
                <a:gridCol w="887001">
                  <a:extLst>
                    <a:ext uri="{9D8B030D-6E8A-4147-A177-3AD203B41FA5}">
                      <a16:colId xmlns:a16="http://schemas.microsoft.com/office/drawing/2014/main" val="393411549"/>
                    </a:ext>
                  </a:extLst>
                </a:gridCol>
                <a:gridCol w="1094713">
                  <a:extLst>
                    <a:ext uri="{9D8B030D-6E8A-4147-A177-3AD203B41FA5}">
                      <a16:colId xmlns:a16="http://schemas.microsoft.com/office/drawing/2014/main" val="725885257"/>
                    </a:ext>
                  </a:extLst>
                </a:gridCol>
              </a:tblGrid>
              <a:tr h="6339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Configuration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Accuracy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Precision (0)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Recall (0)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F1-score (0)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Precision (1)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Recall (1)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F1-score (1)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extLst>
                  <a:ext uri="{0D108BD9-81ED-4DB2-BD59-A6C34878D82A}">
                    <a16:rowId xmlns:a16="http://schemas.microsoft.com/office/drawing/2014/main" val="1017037462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 err="1">
                          <a:effectLst/>
                        </a:rPr>
                        <a:t>num_words</a:t>
                      </a:r>
                      <a:r>
                        <a:rPr lang="en-US" sz="2000" kern="0" dirty="0">
                          <a:effectLst/>
                        </a:rPr>
                        <a:t> = 500, </a:t>
                      </a:r>
                      <a:r>
                        <a:rPr lang="en-US" sz="2000" kern="0" dirty="0" err="1">
                          <a:effectLst/>
                        </a:rPr>
                        <a:t>model_size</a:t>
                      </a:r>
                      <a:r>
                        <a:rPr lang="en-US" sz="2000" kern="0" dirty="0">
                          <a:effectLst/>
                        </a:rPr>
                        <a:t> = 's'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0.82396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0.88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0.75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0.81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0.78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0.90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extLst>
                  <a:ext uri="{0D108BD9-81ED-4DB2-BD59-A6C34878D82A}">
                    <a16:rowId xmlns:a16="http://schemas.microsoft.com/office/drawing/2014/main" val="3764242366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 err="1">
                          <a:effectLst/>
                        </a:rPr>
                        <a:t>num_words</a:t>
                      </a:r>
                      <a:r>
                        <a:rPr lang="en-US" sz="2000" kern="0" dirty="0">
                          <a:effectLst/>
                        </a:rPr>
                        <a:t> = 750, </a:t>
                      </a:r>
                      <a:r>
                        <a:rPr lang="en-US" sz="2000" kern="0" dirty="0" err="1">
                          <a:effectLst/>
                        </a:rPr>
                        <a:t>model_size</a:t>
                      </a:r>
                      <a:r>
                        <a:rPr lang="en-US" sz="2000" kern="0" dirty="0">
                          <a:effectLst/>
                        </a:rPr>
                        <a:t> = 's'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0.8366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0.86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0.81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0.83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0.82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0.87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extLst>
                  <a:ext uri="{0D108BD9-81ED-4DB2-BD59-A6C34878D82A}">
                    <a16:rowId xmlns:a16="http://schemas.microsoft.com/office/drawing/2014/main" val="1730964077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 err="1">
                          <a:effectLst/>
                        </a:rPr>
                        <a:t>num_words</a:t>
                      </a:r>
                      <a:r>
                        <a:rPr lang="en-US" sz="2000" kern="0" dirty="0">
                          <a:effectLst/>
                        </a:rPr>
                        <a:t> = 1000, </a:t>
                      </a:r>
                      <a:r>
                        <a:rPr lang="en-US" sz="2000" kern="0" dirty="0" err="1">
                          <a:effectLst/>
                        </a:rPr>
                        <a:t>model_size</a:t>
                      </a:r>
                      <a:r>
                        <a:rPr lang="en-US" sz="2000" kern="0" dirty="0">
                          <a:effectLst/>
                        </a:rPr>
                        <a:t> = 's'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0.83092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0.90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0.74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0.81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0.78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0.92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extLst>
                  <a:ext uri="{0D108BD9-81ED-4DB2-BD59-A6C34878D82A}">
                    <a16:rowId xmlns:a16="http://schemas.microsoft.com/office/drawing/2014/main" val="713327700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num_words = 2500, model_size = 'm'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0.8408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0.90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0.76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0.83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0.80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0.92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0.85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extLst>
                  <a:ext uri="{0D108BD9-81ED-4DB2-BD59-A6C34878D82A}">
                    <a16:rowId xmlns:a16="http://schemas.microsoft.com/office/drawing/2014/main" val="67728830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num_words = 5000, model_size = 'm'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0.83904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0.88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0.78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0.83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0.81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0.89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0.85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extLst>
                  <a:ext uri="{0D108BD9-81ED-4DB2-BD59-A6C34878D82A}">
                    <a16:rowId xmlns:a16="http://schemas.microsoft.com/office/drawing/2014/main" val="1258249726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num_words = 7500, model_size = 'm'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0.82076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0.78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0.90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0.83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0.88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0.75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0.81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extLst>
                  <a:ext uri="{0D108BD9-81ED-4DB2-BD59-A6C34878D82A}">
                    <a16:rowId xmlns:a16="http://schemas.microsoft.com/office/drawing/2014/main" val="2647313179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num_words = 7500, model_size = 'm'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0.78972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0.82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0.74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0.78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0.76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0.80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extLst>
                  <a:ext uri="{0D108BD9-81ED-4DB2-BD59-A6C34878D82A}">
                    <a16:rowId xmlns:a16="http://schemas.microsoft.com/office/drawing/2014/main" val="2160026480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num_words = 10000, model_size = 'l'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0.83104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0.82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0.83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0.82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0.83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extLst>
                  <a:ext uri="{0D108BD9-81ED-4DB2-BD59-A6C34878D82A}">
                    <a16:rowId xmlns:a16="http://schemas.microsoft.com/office/drawing/2014/main" val="123114472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num_words = 10000, model_size = 'l'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0.79572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0.92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0.65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0.76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0.73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0.94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0.82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extLst>
                  <a:ext uri="{0D108BD9-81ED-4DB2-BD59-A6C34878D82A}">
                    <a16:rowId xmlns:a16="http://schemas.microsoft.com/office/drawing/2014/main" val="3336981124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num_words = 20000, model_size = 'l'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0.81876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0.76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0.92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0.90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0.71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0.80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extLst>
                  <a:ext uri="{0D108BD9-81ED-4DB2-BD59-A6C34878D82A}">
                    <a16:rowId xmlns:a16="http://schemas.microsoft.com/office/drawing/2014/main" val="3047670293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 err="1">
                          <a:effectLst/>
                        </a:rPr>
                        <a:t>num_words</a:t>
                      </a:r>
                      <a:r>
                        <a:rPr lang="en-US" sz="2000" kern="0" dirty="0">
                          <a:effectLst/>
                        </a:rPr>
                        <a:t> = 20000, </a:t>
                      </a:r>
                      <a:r>
                        <a:rPr lang="en-US" sz="2000" kern="0" dirty="0" err="1">
                          <a:effectLst/>
                        </a:rPr>
                        <a:t>model_size</a:t>
                      </a:r>
                      <a:r>
                        <a:rPr lang="en-US" sz="2000" kern="0" dirty="0">
                          <a:effectLst/>
                        </a:rPr>
                        <a:t> = 'l'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0.80964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0.77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0.89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0.82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0.87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0.73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0.79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45" marR="27245" marT="0" marB="0" anchor="ctr"/>
                </a:tc>
                <a:extLst>
                  <a:ext uri="{0D108BD9-81ED-4DB2-BD59-A6C34878D82A}">
                    <a16:rowId xmlns:a16="http://schemas.microsoft.com/office/drawing/2014/main" val="3084804148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7DBA6111-89D0-21D6-614E-8018FD7FB1D0}"/>
              </a:ext>
            </a:extLst>
          </p:cNvPr>
          <p:cNvSpPr txBox="1"/>
          <p:nvPr/>
        </p:nvSpPr>
        <p:spPr>
          <a:xfrm>
            <a:off x="690716" y="9267320"/>
            <a:ext cx="1358839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The highest accuracy achieved was </a:t>
            </a:r>
            <a:r>
              <a:rPr lang="en-US" sz="2200" b="1" dirty="0"/>
              <a:t>0.8408</a:t>
            </a:r>
            <a:r>
              <a:rPr lang="en-US" sz="2200" dirty="0"/>
              <a:t> with the configuration </a:t>
            </a:r>
            <a:r>
              <a:rPr lang="en-US" sz="2200" dirty="0" err="1"/>
              <a:t>num_words</a:t>
            </a:r>
            <a:r>
              <a:rPr lang="en-US" sz="2200" dirty="0"/>
              <a:t> = 2500 and </a:t>
            </a:r>
            <a:r>
              <a:rPr lang="en-US" sz="2200" dirty="0" err="1"/>
              <a:t>model_size</a:t>
            </a:r>
            <a:r>
              <a:rPr lang="en-US" sz="2200" dirty="0"/>
              <a:t> = 'm'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5C3458-7A7B-0AD4-6A7D-0A9608C58632}"/>
              </a:ext>
            </a:extLst>
          </p:cNvPr>
          <p:cNvSpPr txBox="1"/>
          <p:nvPr/>
        </p:nvSpPr>
        <p:spPr>
          <a:xfrm>
            <a:off x="2057395" y="523297"/>
            <a:ext cx="140970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LSTM Model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D39EA9-BD08-9F9E-9E8D-1A7779D2B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800" y="1108072"/>
            <a:ext cx="6019800" cy="41878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24E03B-2BD8-590C-042D-CDE8D9D3B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7599" y="5592416"/>
            <a:ext cx="5807001" cy="367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30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D2290-6629-1773-5A33-725D923B3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6840200" cy="1143000"/>
          </a:xfrm>
        </p:spPr>
        <p:txBody>
          <a:bodyPr/>
          <a:lstStyle/>
          <a:p>
            <a:r>
              <a:rPr lang="en-US" dirty="0"/>
              <a:t>CNN Model Performance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B28A1E1E-789F-A7A0-0306-38DFF439B7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733275"/>
              </p:ext>
            </p:extLst>
          </p:nvPr>
        </p:nvGraphicFramePr>
        <p:xfrm>
          <a:off x="685800" y="1453280"/>
          <a:ext cx="10058400" cy="7195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4858">
                  <a:extLst>
                    <a:ext uri="{9D8B030D-6E8A-4147-A177-3AD203B41FA5}">
                      <a16:colId xmlns:a16="http://schemas.microsoft.com/office/drawing/2014/main" val="2046521929"/>
                    </a:ext>
                  </a:extLst>
                </a:gridCol>
                <a:gridCol w="1011162">
                  <a:extLst>
                    <a:ext uri="{9D8B030D-6E8A-4147-A177-3AD203B41FA5}">
                      <a16:colId xmlns:a16="http://schemas.microsoft.com/office/drawing/2014/main" val="1553925337"/>
                    </a:ext>
                  </a:extLst>
                </a:gridCol>
                <a:gridCol w="1044424">
                  <a:extLst>
                    <a:ext uri="{9D8B030D-6E8A-4147-A177-3AD203B41FA5}">
                      <a16:colId xmlns:a16="http://schemas.microsoft.com/office/drawing/2014/main" val="1439296142"/>
                    </a:ext>
                  </a:extLst>
                </a:gridCol>
                <a:gridCol w="1084339">
                  <a:extLst>
                    <a:ext uri="{9D8B030D-6E8A-4147-A177-3AD203B41FA5}">
                      <a16:colId xmlns:a16="http://schemas.microsoft.com/office/drawing/2014/main" val="2595213680"/>
                    </a:ext>
                  </a:extLst>
                </a:gridCol>
                <a:gridCol w="1117599">
                  <a:extLst>
                    <a:ext uri="{9D8B030D-6E8A-4147-A177-3AD203B41FA5}">
                      <a16:colId xmlns:a16="http://schemas.microsoft.com/office/drawing/2014/main" val="1450878774"/>
                    </a:ext>
                  </a:extLst>
                </a:gridCol>
                <a:gridCol w="1224039">
                  <a:extLst>
                    <a:ext uri="{9D8B030D-6E8A-4147-A177-3AD203B41FA5}">
                      <a16:colId xmlns:a16="http://schemas.microsoft.com/office/drawing/2014/main" val="2797192169"/>
                    </a:ext>
                  </a:extLst>
                </a:gridCol>
                <a:gridCol w="1117599">
                  <a:extLst>
                    <a:ext uri="{9D8B030D-6E8A-4147-A177-3AD203B41FA5}">
                      <a16:colId xmlns:a16="http://schemas.microsoft.com/office/drawing/2014/main" val="3237647983"/>
                    </a:ext>
                  </a:extLst>
                </a:gridCol>
                <a:gridCol w="1064380">
                  <a:extLst>
                    <a:ext uri="{9D8B030D-6E8A-4147-A177-3AD203B41FA5}">
                      <a16:colId xmlns:a16="http://schemas.microsoft.com/office/drawing/2014/main" val="2783745760"/>
                    </a:ext>
                  </a:extLst>
                </a:gridCol>
              </a:tblGrid>
              <a:tr h="656974">
                <a:tc>
                  <a:txBody>
                    <a:bodyPr/>
                    <a:lstStyle/>
                    <a:p>
                      <a:r>
                        <a:rPr lang="en-US" b="1" dirty="0"/>
                        <a:t>Configuration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Accuracy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Precision (0)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Recall (0)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F1-score (0)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Precision (1)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Recall (1)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F1-score (1)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7245194"/>
                  </a:ext>
                </a:extLst>
              </a:tr>
              <a:tr h="594404"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num_words</a:t>
                      </a:r>
                      <a:r>
                        <a:rPr lang="en-US" sz="1600" dirty="0"/>
                        <a:t>=500, </a:t>
                      </a:r>
                      <a:r>
                        <a:rPr lang="en-US" sz="1600" dirty="0" err="1"/>
                        <a:t>model_size</a:t>
                      </a:r>
                      <a:r>
                        <a:rPr lang="en-US" sz="1600" dirty="0"/>
                        <a:t>='s'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0.81068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9575320"/>
                  </a:ext>
                </a:extLst>
              </a:tr>
              <a:tr h="594404"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num_words</a:t>
                      </a:r>
                      <a:r>
                        <a:rPr lang="en-US" sz="1600" dirty="0"/>
                        <a:t>=750, </a:t>
                      </a:r>
                      <a:r>
                        <a:rPr lang="en-US" sz="1600" dirty="0" err="1"/>
                        <a:t>model_size</a:t>
                      </a:r>
                      <a:r>
                        <a:rPr lang="en-US" sz="1600" dirty="0"/>
                        <a:t>='s'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488673"/>
                  </a:ext>
                </a:extLst>
              </a:tr>
              <a:tr h="594404"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num_words</a:t>
                      </a:r>
                      <a:r>
                        <a:rPr lang="en-US" sz="1600" dirty="0"/>
                        <a:t>=1000, </a:t>
                      </a:r>
                      <a:r>
                        <a:rPr lang="en-US" sz="1600" dirty="0" err="1"/>
                        <a:t>model_size</a:t>
                      </a:r>
                      <a:r>
                        <a:rPr lang="en-US" sz="1600" dirty="0"/>
                        <a:t>='s'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0.82484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275046"/>
                  </a:ext>
                </a:extLst>
              </a:tr>
              <a:tr h="594404">
                <a:tc>
                  <a:txBody>
                    <a:bodyPr/>
                    <a:lstStyle/>
                    <a:p>
                      <a:r>
                        <a:rPr lang="en-US" sz="1600" dirty="0" err="1"/>
                        <a:t>num_words</a:t>
                      </a:r>
                      <a:r>
                        <a:rPr lang="en-US" sz="1600" dirty="0"/>
                        <a:t>=2500, </a:t>
                      </a:r>
                      <a:r>
                        <a:rPr lang="en-US" sz="1600" dirty="0" err="1"/>
                        <a:t>model_size</a:t>
                      </a:r>
                      <a:r>
                        <a:rPr lang="en-US" sz="1600" dirty="0"/>
                        <a:t>='m'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0.83728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0832760"/>
                  </a:ext>
                </a:extLst>
              </a:tr>
              <a:tr h="594404">
                <a:tc>
                  <a:txBody>
                    <a:bodyPr/>
                    <a:lstStyle/>
                    <a:p>
                      <a:r>
                        <a:rPr lang="en-US" sz="1600"/>
                        <a:t>num_words=5000, model_size='m'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0.83296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661480"/>
                  </a:ext>
                </a:extLst>
              </a:tr>
              <a:tr h="594404">
                <a:tc>
                  <a:txBody>
                    <a:bodyPr/>
                    <a:lstStyle/>
                    <a:p>
                      <a:r>
                        <a:rPr lang="en-US" sz="1600"/>
                        <a:t>num_words=7500, model_size='m'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420791"/>
                  </a:ext>
                </a:extLst>
              </a:tr>
              <a:tr h="594404">
                <a:tc>
                  <a:txBody>
                    <a:bodyPr/>
                    <a:lstStyle/>
                    <a:p>
                      <a:r>
                        <a:rPr lang="en-US" sz="1600"/>
                        <a:t>num_words=7500, model_size='m'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0.76276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671027"/>
                  </a:ext>
                </a:extLst>
              </a:tr>
              <a:tr h="594404">
                <a:tc>
                  <a:txBody>
                    <a:bodyPr/>
                    <a:lstStyle/>
                    <a:p>
                      <a:r>
                        <a:rPr lang="en-US" sz="1600"/>
                        <a:t>num_words=10000, model_size='l'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0.83644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223718"/>
                  </a:ext>
                </a:extLst>
              </a:tr>
              <a:tr h="594404">
                <a:tc>
                  <a:txBody>
                    <a:bodyPr/>
                    <a:lstStyle/>
                    <a:p>
                      <a:r>
                        <a:rPr lang="en-US" sz="1600"/>
                        <a:t>num_words=10000, model_size='l'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0.80656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497887"/>
                  </a:ext>
                </a:extLst>
              </a:tr>
              <a:tr h="594404">
                <a:tc>
                  <a:txBody>
                    <a:bodyPr/>
                    <a:lstStyle/>
                    <a:p>
                      <a:r>
                        <a:rPr lang="en-US" sz="1600"/>
                        <a:t>num_words=20000, model_size='l'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0.83136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091075"/>
                  </a:ext>
                </a:extLst>
              </a:tr>
              <a:tr h="594404">
                <a:tc>
                  <a:txBody>
                    <a:bodyPr/>
                    <a:lstStyle/>
                    <a:p>
                      <a:r>
                        <a:rPr lang="en-US" sz="1600"/>
                        <a:t>num_words=20000, model_size='l'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0.80452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0346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75EB918-3412-263B-470B-5435FF03E263}"/>
              </a:ext>
            </a:extLst>
          </p:cNvPr>
          <p:cNvSpPr txBox="1"/>
          <p:nvPr/>
        </p:nvSpPr>
        <p:spPr>
          <a:xfrm>
            <a:off x="838200" y="90297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The highest accuracy achieved was </a:t>
            </a:r>
            <a:r>
              <a:rPr lang="en-US" sz="1800" b="1" dirty="0"/>
              <a:t>0.83</a:t>
            </a:r>
            <a:r>
              <a:rPr lang="en-US" b="1" dirty="0"/>
              <a:t>7</a:t>
            </a:r>
            <a:r>
              <a:rPr lang="en-US" sz="1800" b="1" dirty="0"/>
              <a:t>8</a:t>
            </a:r>
            <a:r>
              <a:rPr lang="en-US" sz="1800" dirty="0"/>
              <a:t> with the configuration </a:t>
            </a:r>
            <a:r>
              <a:rPr lang="en-US" sz="1800" dirty="0" err="1"/>
              <a:t>num_words</a:t>
            </a:r>
            <a:r>
              <a:rPr lang="en-US" sz="1800" dirty="0"/>
              <a:t> = 2500 and </a:t>
            </a:r>
            <a:r>
              <a:rPr lang="en-US" sz="1800" dirty="0" err="1"/>
              <a:t>model_size</a:t>
            </a:r>
            <a:r>
              <a:rPr lang="en-US" sz="1800" dirty="0"/>
              <a:t> = 'm'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B188D0-E35A-0534-2EB3-959A1A1F8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1230755"/>
            <a:ext cx="6096000" cy="40651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0C4E88-FAAF-AABC-B39D-CD9EBD59D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5497954"/>
            <a:ext cx="6248400" cy="406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91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A4E39-138B-1FE0-26C2-F2E6FE152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FC8B548-531F-5515-7F0F-181FF70A5416}"/>
              </a:ext>
            </a:extLst>
          </p:cNvPr>
          <p:cNvSpPr/>
          <p:nvPr/>
        </p:nvSpPr>
        <p:spPr>
          <a:xfrm>
            <a:off x="-7543800" y="-2845897"/>
            <a:ext cx="15978794" cy="15978794"/>
          </a:xfrm>
          <a:custGeom>
            <a:avLst/>
            <a:gdLst/>
            <a:ahLst/>
            <a:cxnLst/>
            <a:rect l="l" t="t" r="r" b="b"/>
            <a:pathLst>
              <a:path w="15978794" h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9FE97CA-43C3-7ED2-418B-AA854985F631}"/>
              </a:ext>
            </a:extLst>
          </p:cNvPr>
          <p:cNvSpPr txBox="1"/>
          <p:nvPr/>
        </p:nvSpPr>
        <p:spPr>
          <a:xfrm>
            <a:off x="445597" y="4152900"/>
            <a:ext cx="6934200" cy="2311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8000" b="1" dirty="0">
                <a:solidFill>
                  <a:srgbClr val="FFFFFF"/>
                </a:solidFill>
                <a:latin typeface="+mj-lt"/>
                <a:ea typeface="Klein Bold"/>
                <a:cs typeface="Klein Bold"/>
                <a:sym typeface="Klein Bold"/>
              </a:rPr>
              <a:t>Performance Comparison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097143-F2EF-8E7C-5FE9-1A58E4E10F99}"/>
              </a:ext>
            </a:extLst>
          </p:cNvPr>
          <p:cNvSpPr txBox="1"/>
          <p:nvPr/>
        </p:nvSpPr>
        <p:spPr>
          <a:xfrm>
            <a:off x="9726843" y="1333891"/>
            <a:ext cx="74352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LSTM: Highest accuracy - 84.08% .</a:t>
            </a:r>
          </a:p>
          <a:p>
            <a:endParaRPr lang="en-US" sz="3200" dirty="0"/>
          </a:p>
          <a:p>
            <a:r>
              <a:rPr lang="en-US" sz="3200" dirty="0"/>
              <a:t>CNN: High speed, accuracy - 83.72% .</a:t>
            </a:r>
          </a:p>
          <a:p>
            <a:endParaRPr lang="en-US" sz="3200" dirty="0"/>
          </a:p>
          <a:p>
            <a:r>
              <a:rPr lang="en-US" sz="3200" dirty="0"/>
              <a:t>RNN: Balanced performance with slight limitations on long sequences.</a:t>
            </a:r>
          </a:p>
        </p:txBody>
      </p:sp>
      <p:pic>
        <p:nvPicPr>
          <p:cNvPr id="10" name="Picture 9" descr="A chart of a bar graph&#10;&#10;Description automatically generated with medium confidence">
            <a:extLst>
              <a:ext uri="{FF2B5EF4-FFF2-40B4-BE49-F238E27FC236}">
                <a16:creationId xmlns:a16="http://schemas.microsoft.com/office/drawing/2014/main" id="{E96AA674-4017-BD89-6D78-2814C70CD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843" y="5074336"/>
            <a:ext cx="6939948" cy="41721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F47642-1EA6-CB08-449A-716B49A8A876}"/>
              </a:ext>
            </a:extLst>
          </p:cNvPr>
          <p:cNvSpPr txBox="1"/>
          <p:nvPr/>
        </p:nvSpPr>
        <p:spPr>
          <a:xfrm>
            <a:off x="11049000" y="9410700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2: Visualization for Accuracy Comparison</a:t>
            </a: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819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8287996" cy="238611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" y="0"/>
            <a:ext cx="12172958" cy="238611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172948" y="-1"/>
            <a:ext cx="6115047" cy="238611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025" y="-1"/>
            <a:ext cx="17598969" cy="2396149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47800" y="441807"/>
            <a:ext cx="15453525" cy="1550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dirty="0" err="1">
                <a:solidFill>
                  <a:srgbClr val="FFFFFF"/>
                </a:solidFill>
                <a:latin typeface="+mj-lt"/>
                <a:ea typeface="+mj-ea"/>
                <a:cs typeface="+mj-cs"/>
                <a:sym typeface="Klein Bold"/>
              </a:rPr>
              <a:t>Comparision</a:t>
            </a:r>
            <a:r>
              <a:rPr lang="en-US" sz="6000" b="1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Klein Bold"/>
              </a:rPr>
              <a:t> Metrics</a:t>
            </a:r>
            <a:endParaRPr lang="en-US" sz="6000" b="1" kern="1200" dirty="0">
              <a:solidFill>
                <a:srgbClr val="FFFFFF"/>
              </a:solidFill>
              <a:latin typeface="+mj-lt"/>
              <a:ea typeface="+mj-ea"/>
              <a:cs typeface="+mj-cs"/>
              <a:sym typeface="Klein Bold"/>
            </a:endParaRPr>
          </a:p>
        </p:txBody>
      </p:sp>
      <p:pic>
        <p:nvPicPr>
          <p:cNvPr id="2" name="Content Placeholder 1" descr="A graph of a bar chart&#10;&#10;Description automatically generated with medium confidence">
            <a:extLst>
              <a:ext uri="{FF2B5EF4-FFF2-40B4-BE49-F238E27FC236}">
                <a16:creationId xmlns:a16="http://schemas.microsoft.com/office/drawing/2014/main" id="{A42A6E2E-E6BD-B513-19BE-D3A635B327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883" y="3924300"/>
            <a:ext cx="7931617" cy="4572000"/>
          </a:xfrm>
          <a:prstGeom prst="rect">
            <a:avLst/>
          </a:prstGeom>
        </p:spPr>
      </p:pic>
      <p:pic>
        <p:nvPicPr>
          <p:cNvPr id="5" name="Picture 4" descr="A graph of a bar graph&#10;&#10;Description automatically generated">
            <a:extLst>
              <a:ext uri="{FF2B5EF4-FFF2-40B4-BE49-F238E27FC236}">
                <a16:creationId xmlns:a16="http://schemas.microsoft.com/office/drawing/2014/main" id="{33FF89F9-15D8-1F73-8EBF-5D5962DB0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5012" y="3733819"/>
            <a:ext cx="7372388" cy="4762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6D3E2D-46DA-E02C-4D74-2143D8811D8B}"/>
              </a:ext>
            </a:extLst>
          </p:cNvPr>
          <p:cNvSpPr txBox="1"/>
          <p:nvPr/>
        </p:nvSpPr>
        <p:spPr>
          <a:xfrm>
            <a:off x="1143000" y="8796528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Figure: Precision, recall and F1-score Visualization for negative class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7AEF9-17E7-C058-D2CE-6703DDC2CBA5}"/>
              </a:ext>
            </a:extLst>
          </p:cNvPr>
          <p:cNvSpPr txBox="1"/>
          <p:nvPr/>
        </p:nvSpPr>
        <p:spPr>
          <a:xfrm>
            <a:off x="10515600" y="8796528"/>
            <a:ext cx="6629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Figure: Precision, recall and F1-score Visualization for positive class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1B43DD-687E-1FC1-CCF4-4AA4F1EB7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EA915F84-98C7-4CEF-2699-9E84EBE16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D2E8BE7-127A-6E6B-74A5-3F39826DE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8287996" cy="238611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5AB6524-2BA4-76FA-2734-E5BF2DF6E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" y="0"/>
            <a:ext cx="12172958" cy="238611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49187A-1A7F-9D2E-283C-AD9906E18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172948" y="-1"/>
            <a:ext cx="6115047" cy="238611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B490BB-A23B-2DCC-EAFE-3EF5A8F1E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025" y="-1"/>
            <a:ext cx="17598969" cy="2396149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8081131-74ED-5BFB-1A9D-63DF2B9C04A5}"/>
              </a:ext>
            </a:extLst>
          </p:cNvPr>
          <p:cNvSpPr txBox="1"/>
          <p:nvPr/>
        </p:nvSpPr>
        <p:spPr>
          <a:xfrm>
            <a:off x="1447800" y="441807"/>
            <a:ext cx="15453525" cy="1550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dirty="0">
                <a:solidFill>
                  <a:schemeClr val="bg1"/>
                </a:solidFill>
                <a:latin typeface="+mj-lt"/>
              </a:rPr>
              <a:t>Strengths of the Project</a:t>
            </a:r>
            <a:endParaRPr lang="en-US" sz="8000" b="1" kern="1200" dirty="0">
              <a:solidFill>
                <a:schemeClr val="bg1"/>
              </a:solidFill>
              <a:latin typeface="+mj-lt"/>
              <a:ea typeface="+mj-ea"/>
              <a:cs typeface="+mj-cs"/>
              <a:sym typeface="Klein Bold"/>
            </a:endParaRPr>
          </a:p>
        </p:txBody>
      </p:sp>
      <p:grpSp>
        <p:nvGrpSpPr>
          <p:cNvPr id="24" name="Group 2">
            <a:extLst>
              <a:ext uri="{FF2B5EF4-FFF2-40B4-BE49-F238E27FC236}">
                <a16:creationId xmlns:a16="http://schemas.microsoft.com/office/drawing/2014/main" id="{CA542074-8607-CF0D-86D2-C93E06D9A903}"/>
              </a:ext>
            </a:extLst>
          </p:cNvPr>
          <p:cNvGrpSpPr/>
          <p:nvPr/>
        </p:nvGrpSpPr>
        <p:grpSpPr>
          <a:xfrm>
            <a:off x="30562" y="49539"/>
            <a:ext cx="18288000" cy="2396148"/>
            <a:chOff x="-518555" y="17070054"/>
            <a:chExt cx="24384000" cy="5030819"/>
          </a:xfrm>
        </p:grpSpPr>
        <p:pic>
          <p:nvPicPr>
            <p:cNvPr id="26" name="Picture 3">
              <a:extLst>
                <a:ext uri="{FF2B5EF4-FFF2-40B4-BE49-F238E27FC236}">
                  <a16:creationId xmlns:a16="http://schemas.microsoft.com/office/drawing/2014/main" id="{3F9AE56E-B363-0279-2774-0F98FCE4B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4000"/>
            </a:blip>
            <a:srcRect t="27933" b="41099"/>
            <a:stretch>
              <a:fillRect/>
            </a:stretch>
          </p:blipFill>
          <p:spPr>
            <a:xfrm>
              <a:off x="-518555" y="17070054"/>
              <a:ext cx="24384000" cy="5030819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6D3D04E-908C-5FD4-29EE-23201E3F33BD}"/>
              </a:ext>
            </a:extLst>
          </p:cNvPr>
          <p:cNvSpPr txBox="1"/>
          <p:nvPr/>
        </p:nvSpPr>
        <p:spPr>
          <a:xfrm>
            <a:off x="1821262" y="3543300"/>
            <a:ext cx="14706600" cy="4448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 Compared RNN, LSTM, and CNN with detailed metrics.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 LSTM achieved highest accuracy and balanced performance.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 Effective preprocessing ensured reliable input.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 Fine-tuned hyperparameters for better scalability.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 Visualizations enhanced interpretability.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 Results are reproducible using the IMDb dataset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7582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2E09F-6D86-EAF5-93BD-F2B74CD1D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B270B92-0912-9719-877D-CC1A36BE01C2}"/>
              </a:ext>
            </a:extLst>
          </p:cNvPr>
          <p:cNvSpPr/>
          <p:nvPr/>
        </p:nvSpPr>
        <p:spPr>
          <a:xfrm>
            <a:off x="-7543800" y="-2845897"/>
            <a:ext cx="15978794" cy="15978794"/>
          </a:xfrm>
          <a:custGeom>
            <a:avLst/>
            <a:gdLst/>
            <a:ahLst/>
            <a:cxnLst/>
            <a:rect l="l" t="t" r="r" b="b"/>
            <a:pathLst>
              <a:path w="15978794" h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DB98AB4-0F3E-ADE6-408A-908D8E669AB1}"/>
              </a:ext>
            </a:extLst>
          </p:cNvPr>
          <p:cNvSpPr txBox="1"/>
          <p:nvPr/>
        </p:nvSpPr>
        <p:spPr>
          <a:xfrm>
            <a:off x="1676400" y="4381500"/>
            <a:ext cx="6172200" cy="1144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 dirty="0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Conclusion</a:t>
            </a: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CBE5B3F7-BF15-EEFA-6E61-B5AA6F5F5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0" y="2173180"/>
            <a:ext cx="9220200" cy="6705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Successfully applied RNN, LSTM, and CNN for sentiment analysis.</a:t>
            </a:r>
          </a:p>
          <a:p>
            <a:pPr>
              <a:lnSpc>
                <a:spcPct val="150000"/>
              </a:lnSpc>
            </a:pPr>
            <a:r>
              <a:rPr lang="en-US" dirty="0"/>
              <a:t>LSTM outperformed other models with the highest accuracy.</a:t>
            </a:r>
          </a:p>
          <a:p>
            <a:pPr>
              <a:lnSpc>
                <a:spcPct val="150000"/>
              </a:lnSpc>
            </a:pPr>
            <a:r>
              <a:rPr lang="en-US" dirty="0"/>
              <a:t>Preprocessing and fine-tuning improved model performance.</a:t>
            </a:r>
          </a:p>
          <a:p>
            <a:pPr>
              <a:lnSpc>
                <a:spcPct val="150000"/>
              </a:lnSpc>
            </a:pPr>
            <a:r>
              <a:rPr lang="en-US" dirty="0"/>
              <a:t>Provides a solid foundation for advancing sentiment analysis research.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7344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8FB48-CA00-F42F-03D4-38C6E76DC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423CC62-7D7A-20FE-F597-2C26F0BFD76B}"/>
              </a:ext>
            </a:extLst>
          </p:cNvPr>
          <p:cNvSpPr/>
          <p:nvPr/>
        </p:nvSpPr>
        <p:spPr>
          <a:xfrm>
            <a:off x="-7543800" y="-2845897"/>
            <a:ext cx="15978794" cy="15978794"/>
          </a:xfrm>
          <a:custGeom>
            <a:avLst/>
            <a:gdLst/>
            <a:ahLst/>
            <a:cxnLst/>
            <a:rect l="l" t="t" r="r" b="b"/>
            <a:pathLst>
              <a:path w="15978794" h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5FCFF29-57F4-D7B2-D5A4-E6F18E1D8C23}"/>
              </a:ext>
            </a:extLst>
          </p:cNvPr>
          <p:cNvSpPr txBox="1"/>
          <p:nvPr/>
        </p:nvSpPr>
        <p:spPr>
          <a:xfrm>
            <a:off x="1524000" y="4457700"/>
            <a:ext cx="6172200" cy="2311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8000" b="1" dirty="0">
                <a:solidFill>
                  <a:srgbClr val="FFFFFF"/>
                </a:solidFill>
                <a:latin typeface="+mj-lt"/>
                <a:ea typeface="Klein Bold"/>
                <a:cs typeface="Klein Bold"/>
                <a:sym typeface="Klein Bold"/>
              </a:rPr>
              <a:t>Future Work</a:t>
            </a:r>
          </a:p>
          <a:p>
            <a:pPr>
              <a:lnSpc>
                <a:spcPts val="9099"/>
              </a:lnSpc>
            </a:pPr>
            <a:endParaRPr lang="en-US" sz="6999" b="1" dirty="0">
              <a:solidFill>
                <a:srgbClr val="FFFFFF"/>
              </a:solidFill>
              <a:latin typeface="Klein Bold"/>
              <a:ea typeface="Klein Bold"/>
              <a:cs typeface="Klein Bold"/>
              <a:sym typeface="Klein Bold"/>
            </a:endParaRP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BCD38065-C2FC-EA6D-AB58-0112999BC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00" y="2019300"/>
            <a:ext cx="9220200" cy="67056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Implement advanced models like BERT or GPT for better contextual understanding.</a:t>
            </a:r>
          </a:p>
          <a:p>
            <a:pPr>
              <a:lnSpc>
                <a:spcPct val="150000"/>
              </a:lnSpc>
            </a:pPr>
            <a:r>
              <a:rPr lang="en-US" dirty="0"/>
              <a:t>Further fine-tuning hyperparameters for each model.</a:t>
            </a:r>
          </a:p>
          <a:p>
            <a:pPr>
              <a:lnSpc>
                <a:spcPct val="150000"/>
              </a:lnSpc>
            </a:pPr>
            <a:r>
              <a:rPr lang="en-US" dirty="0"/>
              <a:t>Combining multiple models to leverage their strengths.</a:t>
            </a:r>
          </a:p>
          <a:p>
            <a:pPr>
              <a:lnSpc>
                <a:spcPct val="150000"/>
              </a:lnSpc>
            </a:pPr>
            <a:r>
              <a:rPr lang="en-US" dirty="0"/>
              <a:t>Building a web or mobile application to utilize the trained models in real-time.</a:t>
            </a:r>
          </a:p>
          <a:p>
            <a:pPr>
              <a:lnSpc>
                <a:spcPct val="150000"/>
              </a:lnSpc>
            </a:pPr>
            <a:r>
              <a:rPr lang="en-US" dirty="0"/>
              <a:t>Error Analysis— Investigating misclassified instances to understand model limitations.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937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8287996" cy="238611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" y="0"/>
            <a:ext cx="12172958" cy="2386113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172948" y="-1"/>
            <a:ext cx="6115047" cy="238611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025" y="-1"/>
            <a:ext cx="17598969" cy="2396149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2E801-C900-98B0-51F3-56AF3FF4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398" y="441807"/>
            <a:ext cx="14843927" cy="1550503"/>
          </a:xfrm>
        </p:spPr>
        <p:txBody>
          <a:bodyPr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B54A-D72C-33BD-CFF5-0789072B8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398" y="3477295"/>
            <a:ext cx="14586047" cy="5525037"/>
          </a:xfrm>
        </p:spPr>
        <p:txBody>
          <a:bodyPr anchor="ctr">
            <a:normAutofit/>
          </a:bodyPr>
          <a:lstStyle/>
          <a:p>
            <a:r>
              <a:rPr lang="en-US" sz="3000"/>
              <a:t>Shilpa. P. C, Rissa Shereen, Susmi Jacob, Vinod P, "Sentiment Analysis Using Deep Learning," Third International Conference on Intelligent Communication Technologies and Virtual Mobile Networks (ICICV 2021).</a:t>
            </a:r>
          </a:p>
          <a:p>
            <a:endParaRPr lang="en-US" sz="3000"/>
          </a:p>
          <a:p>
            <a:r>
              <a:rPr lang="en-US" sz="3000"/>
              <a:t>Nehal Mohamed Ali, Marwa Mostafa Abd El Hamid, Aliaa Youssif, "Sentiment Analysis For Movies Reviews Dataset Using Deep Learning Models," International Journal of Data Mining &amp; Knowledge Management Process (IJDKP).</a:t>
            </a:r>
          </a:p>
          <a:p>
            <a:endParaRPr lang="en-US" sz="3000"/>
          </a:p>
          <a:p>
            <a:r>
              <a:rPr lang="en-US" sz="3000"/>
              <a:t>Saeed Mian Qaisar. "Sentiment Analysis of IMBd Movie Reviews Using Long Short-Term Memory", 2020 2nd International Conference on Computer and Information Sciences (ICCIS).</a:t>
            </a:r>
          </a:p>
          <a:p>
            <a:endParaRPr lang="en-US" sz="3000"/>
          </a:p>
          <a:p>
            <a:endParaRPr lang="en-US" sz="3000"/>
          </a:p>
        </p:txBody>
      </p:sp>
    </p:spTree>
    <p:extLst>
      <p:ext uri="{BB962C8B-B14F-4D97-AF65-F5344CB8AC3E}">
        <p14:creationId xmlns:p14="http://schemas.microsoft.com/office/powerpoint/2010/main" val="1005870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848493D-90F2-BA5D-EF62-EF343E97B67A}"/>
              </a:ext>
            </a:extLst>
          </p:cNvPr>
          <p:cNvSpPr/>
          <p:nvPr/>
        </p:nvSpPr>
        <p:spPr>
          <a:xfrm>
            <a:off x="-6096000" y="-5067300"/>
            <a:ext cx="22098000" cy="18135600"/>
          </a:xfrm>
          <a:custGeom>
            <a:avLst/>
            <a:gdLst/>
            <a:ahLst/>
            <a:cxnLst/>
            <a:rect l="l" t="t" r="r" b="b"/>
            <a:pathLst>
              <a:path w="15978794" h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0F075702-D03B-6D28-C5F8-FE8D3BFACC8C}"/>
              </a:ext>
            </a:extLst>
          </p:cNvPr>
          <p:cNvSpPr/>
          <p:nvPr/>
        </p:nvSpPr>
        <p:spPr>
          <a:xfrm>
            <a:off x="-2895600" y="-3276600"/>
            <a:ext cx="18211800" cy="13449300"/>
          </a:xfrm>
          <a:custGeom>
            <a:avLst/>
            <a:gdLst/>
            <a:ahLst/>
            <a:cxnLst/>
            <a:rect l="l" t="t" r="r" b="b"/>
            <a:pathLst>
              <a:path w="13960430" h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C8F6CE-471B-4B49-E968-D994E7166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0" y="4000500"/>
            <a:ext cx="8153400" cy="2286000"/>
          </a:xfrm>
        </p:spPr>
        <p:txBody>
          <a:bodyPr>
            <a:normAutofit/>
          </a:bodyPr>
          <a:lstStyle/>
          <a:p>
            <a:pPr algn="ctr">
              <a:lnSpc>
                <a:spcPts val="9099"/>
              </a:lnSpc>
            </a:pPr>
            <a:r>
              <a:rPr lang="en-US" sz="8000" b="1" dirty="0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THANK </a:t>
            </a:r>
            <a:r>
              <a:rPr lang="en-US" sz="8000" b="1" dirty="0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820075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1339</TotalTime>
  <Words>1614</Words>
  <Application>Microsoft Office PowerPoint</Application>
  <PresentationFormat>Custom</PresentationFormat>
  <Paragraphs>443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Klein Bold</vt:lpstr>
      <vt:lpstr>Arial</vt:lpstr>
      <vt:lpstr>Calibri</vt:lpstr>
      <vt:lpstr>Aptos</vt:lpstr>
      <vt:lpstr>Times New Roman</vt:lpstr>
      <vt:lpstr>Office Theme</vt:lpstr>
      <vt:lpstr>Sentiment Classification Using NLP and Deep Neural Networks : An Analysis of Movie Reviews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LAYERS</vt:lpstr>
      <vt:lpstr>Improved RNN</vt:lpstr>
      <vt:lpstr>LSTM</vt:lpstr>
      <vt:lpstr>CNN</vt:lpstr>
      <vt:lpstr>Model Training</vt:lpstr>
      <vt:lpstr>Hyperparameters </vt:lpstr>
      <vt:lpstr>RNN Model performance </vt:lpstr>
      <vt:lpstr>Results</vt:lpstr>
      <vt:lpstr>CNN Model Performance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Tejaswini Gadde</dc:creator>
  <cp:lastModifiedBy>Tejaswini Gadde</cp:lastModifiedBy>
  <cp:revision>9</cp:revision>
  <dcterms:created xsi:type="dcterms:W3CDTF">2006-08-16T00:00:00Z</dcterms:created>
  <dcterms:modified xsi:type="dcterms:W3CDTF">2024-11-23T08:10:46Z</dcterms:modified>
  <dc:identifier>DAGP_3AtbLQ</dc:identifier>
</cp:coreProperties>
</file>